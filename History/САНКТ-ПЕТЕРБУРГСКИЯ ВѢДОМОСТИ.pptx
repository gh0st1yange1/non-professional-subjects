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12192000" cx="6858000"/>
  <p:notesSz cx="6858000" cy="9144000"/>
  <p:embeddedFontLst>
    <p:embeddedFont>
      <p:font typeface="Palatino Linotype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alatinoLinotype-bold.fntdata"/><Relationship Id="rId10" Type="http://schemas.openxmlformats.org/officeDocument/2006/relationships/font" Target="fonts/PalatinoLinotype-regular.fntdata"/><Relationship Id="rId13" Type="http://schemas.openxmlformats.org/officeDocument/2006/relationships/font" Target="fonts/PalatinoLinotype-boldItalic.fntdata"/><Relationship Id="rId12" Type="http://schemas.openxmlformats.org/officeDocument/2006/relationships/font" Target="fonts/PalatinoLinotyp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514350" y="1995312"/>
            <a:ext cx="5829300" cy="42446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7916" y="3039537"/>
            <a:ext cx="5915025" cy="50715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67916" y="8159048"/>
            <a:ext cx="5915025" cy="266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2381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72381" y="812800"/>
            <a:ext cx="2211884" cy="28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915543" y="1755425"/>
            <a:ext cx="3471863" cy="8664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72381" y="3657600"/>
            <a:ext cx="2211884" cy="6776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472381" y="812800"/>
            <a:ext cx="2211884" cy="28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2915543" y="1755425"/>
            <a:ext cx="3471863" cy="866422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472381" y="3657600"/>
            <a:ext cx="2211884" cy="6776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-438856" y="4155899"/>
            <a:ext cx="7735712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81057" y="5075811"/>
            <a:ext cx="10332156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2519318" y="3639917"/>
            <a:ext cx="10332156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514350" y="219919"/>
            <a:ext cx="5829300" cy="1722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alatino Linotype"/>
              <a:buNone/>
            </a:pPr>
            <a:r>
              <a:rPr b="1" lang="ru-RU" sz="3200">
                <a:latin typeface="Palatino Linotype"/>
                <a:ea typeface="Palatino Linotype"/>
                <a:cs typeface="Palatino Linotype"/>
                <a:sym typeface="Palatino Linotype"/>
              </a:rPr>
              <a:t>САНКТ-ПЕТЕРБУРГСКИЯ ВѢДОМОСТИ</a:t>
            </a:r>
            <a:br>
              <a:rPr b="1" lang="ru-RU" sz="3200">
                <a:latin typeface="Palatino Linotype"/>
                <a:ea typeface="Palatino Linotype"/>
                <a:cs typeface="Palatino Linotype"/>
                <a:sym typeface="Palatino Linotype"/>
              </a:rPr>
            </a:br>
            <a:endParaRPr sz="32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14350" y="1762979"/>
            <a:ext cx="36824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Ключевые события сего года: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30500" y="3068329"/>
            <a:ext cx="59118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8 февраля – указом великого императора Петра Великого учреждена Академия наук и Академическая гимназия в Петербурге.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2477" y="3822985"/>
            <a:ext cx="4572000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30500" y="5822672"/>
            <a:ext cx="61397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27 мая - коронация нашим императором Екатерины I.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16208" y="8754230"/>
            <a:ext cx="58099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 23 июня - подписан Константинопольский договор, разграничивающий сферы влияния Российской и Османской империи на Закавказье.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16207" y="9726386"/>
            <a:ext cx="51248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Продолжается перепись населения, одних мужчин уже больше семи мильонов.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16208" y="10478987"/>
            <a:ext cx="56629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Вчерашним днём (30 декабря) деятельность городских магистратов была регламентирована Инструкцией магистратам.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912890" y="11448860"/>
            <a:ext cx="3371174" cy="523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ru-RU" sz="1400" u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Итоговый выпуск от Васильего вечера (31 декабря) 1724 года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30500" y="2328859"/>
            <a:ext cx="57274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27 января - для улучшения оснащения армии принято решение начать работу Сестрорецкого оружейного завода.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background"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3408" y="6272761"/>
            <a:ext cx="3122050" cy="223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/>
        </p:nvSpPr>
        <p:spPr>
          <a:xfrm>
            <a:off x="1889794" y="11511694"/>
            <a:ext cx="3371174" cy="523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Итоговый выпуск от Васильего вечера (31 декабря) 1724 года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16919" y="613459"/>
            <a:ext cx="57631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Экономическое обозрение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05371" y="1316403"/>
            <a:ext cx="593849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Нашей газете удалось взять интервью у только что ставшего генерал-губернатором Петра Матвеевича Апраксина и простого дворянина. Что же думают они об экономическом положении нашей империи?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05371" y="2816064"/>
            <a:ext cx="44230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Пётр Матвеевич, что вы думаете о налогах наших?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05370" y="3156999"/>
            <a:ext cx="593849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(Апраксин) - Наши налоги весьма справедливы и необходимы, не зря ввели подушную подать, ведь нужно на какие-то деньги строить заводы, образовательные учреждения, развивать государство. Насколько мне известно, в этом году налоги были таковы: с крепостной души 74к., с государственных крестьян – 1р. 14к., с горожан – 1р. 20к., а вот со старообрядцев  - 1р. 48к.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5371" y="4615144"/>
            <a:ext cx="14061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А вы, господин?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05371" y="4916087"/>
            <a:ext cx="605424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(Дворянин) - Не смею критиковать волю государя и считаю совершенно справедливыми все налоги, ведь идут они на благое дело.</a:t>
            </a:r>
            <a:endParaRPr/>
          </a:p>
        </p:txBody>
      </p:sp>
      <p:pic>
        <p:nvPicPr>
          <p:cNvPr descr="Picture background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490" y="5600804"/>
            <a:ext cx="3503924" cy="263362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05371" y="8435010"/>
            <a:ext cx="31902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Что же с валютой нашей, уважаемые?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05371" y="8754869"/>
            <a:ext cx="575156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(Апраксин) – Наконец чеканка золотой монеты начата в Санкт-Петербурге! Долгие годы пытались мы перевезти монетные дворы в столицу, и получилось!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3823" y="9505615"/>
            <a:ext cx="57631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(Дворянин) – Монетный двор прекрасен, я лично присутствовал там. Думаю, наша валюта будет крепка, как кремень!</a:t>
            </a:r>
            <a:endParaRPr/>
          </a:p>
        </p:txBody>
      </p:sp>
      <p:pic>
        <p:nvPicPr>
          <p:cNvPr descr="Picture background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8975" y="10129763"/>
            <a:ext cx="2612811" cy="128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1912890" y="11448860"/>
            <a:ext cx="3371174" cy="523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Итоговый выпуск от Васильего вечера (31 декабря) 1724 года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2031" y="438624"/>
            <a:ext cx="47962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Произошли ли ещё какие-нибудь значимые события в экономической сфере?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2031" y="1061499"/>
            <a:ext cx="523060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(Апраксин) – Безусловно! Для того, чтобы производилось больше  отечественной продукции высокого качества, 31 генваря был введён Таможенный тариф.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2031" y="1899818"/>
            <a:ext cx="605424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(Дворянин) – Например, если товар производился за рубежом и у нас, то на него накладывались высокие пошлины, но если у нас этого товара нет, то умеренные. На вывозимые товары – маленькая.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2030" y="2738137"/>
            <a:ext cx="47962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Получается, что нужно было увеличивать производство внутри страны. А вот каким образом это делалось?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2030" y="3361012"/>
            <a:ext cx="57411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(Апраксин) – Ясное дело, что строились фабрики, но ведь нужны ещё и умелые кадры, организация. Были введены ремесленные цехи. Господин дворянин, а не подскажите ли для чего?</a:t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52030" y="4199331"/>
            <a:ext cx="605424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(Дворянин) – Конечно, господин генерал-губернатор, подскажу. Это было сделано для создания системы контроля за качеством и упорядочивания прав ремесленников: они объединялись в цехи по специализации, во главе должен быть старшина. Каждый желающий мог записаться в цех, будь то крестьянин или дворянин.  </a:t>
            </a:r>
            <a:endParaRPr/>
          </a:p>
        </p:txBody>
      </p:sp>
      <p:pic>
        <p:nvPicPr>
          <p:cNvPr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250" y="5570219"/>
            <a:ext cx="2937717" cy="2217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1" y="5570219"/>
            <a:ext cx="1881372" cy="221714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52030" y="9328763"/>
            <a:ext cx="57411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Спасибо Вам, господа, за ответы! Прочитав этот раздел газеты, империя может быть спокойна за стойкость своего существования!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2030" y="7987253"/>
            <a:ext cx="574115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(Апраксин) –Исходя из вашего ответа, господин дворянин, можно понять, что производство отечественной продукции пойдёт в гору! С такой организацией, думаю мы сможем вывести страну в лидеры, в первую очередь, по военной мощи, затем по производству товаров. 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36790" y="10030572"/>
            <a:ext cx="605424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(Дворянин) – Абсолютно с вами согласен! Прошу прощения, но мне пора идти, до скорой встречи!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0377" y="10725751"/>
            <a:ext cx="5741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(Апраксин) – Я  тоже не могу более задерживаться. До свидания!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/>
        </p:nvSpPr>
        <p:spPr>
          <a:xfrm>
            <a:off x="1912890" y="11448860"/>
            <a:ext cx="3371174" cy="523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Итоговый выпуск от Васильего вечера (31 декабря) 1724 года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2050257" y="351875"/>
            <a:ext cx="27574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Объявления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19760" y="936650"/>
            <a:ext cx="30941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Сдаю квартиру в аренду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19760" y="1518206"/>
            <a:ext cx="576072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Квартира находится рядом с Невским проспектом, на набережной реки Фонтанки. В квартире 4 комнаты, широкая просторная, подойдёт для семьи в три поколения. Несмотря на то, что район дорогой, возьму немного, 1500р. в год, но если вы останетесь на 3 года и более, будет вам скидка в 1200р. в год. 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19760" y="5758775"/>
            <a:ext cx="338746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Вакансия старшины в цехе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19760" y="6209642"/>
            <a:ext cx="576072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Наш прежний старшина оказался несправедливым, ленивым и халатным. Постоянно насмехался над подмастерьями, грубил мастерам. Нам такой не нужен, его прогнали с цеха, теперь непонятно, где шляется.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Новый старшина должен уважительно относиться к каждому работнику, не отлынивать от работы сам и руководить справедливо. За то ему буду положены привилегии, о которых он узнает после.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Приходите 3 генваря 1725 года на Сестрорецкий завод, если вас заинтересовало предложение.</a:t>
            </a:r>
            <a:endParaRPr/>
          </a:p>
        </p:txBody>
      </p:sp>
      <p:pic>
        <p:nvPicPr>
          <p:cNvPr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869203"/>
            <a:ext cx="45720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619760" y="4658673"/>
            <a:ext cx="59944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Если предложение заинтересовало, меня можно найти в магазине «Зингер», я часто там, бываю: ежедневно после полудня и до четырёх вечера.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0257" y="9103196"/>
            <a:ext cx="2935083" cy="2129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/>
          <p:nvPr/>
        </p:nvSpPr>
        <p:spPr>
          <a:xfrm>
            <a:off x="619760" y="574467"/>
            <a:ext cx="32848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Ускорение чеканки монет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19760" y="1084903"/>
            <a:ext cx="591312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Нам нужен мастер своего дела, который смыслит в чеканке монет. Государство растёт, нужна валюта, но у нас старые технологии. Все производится медленно.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Если у вас есть какой-нибудь станок, технология или идея, как можно ускорить процесс, то мы ждём вас прямо у Монетного Двора</a:t>
            </a:r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1082" y="2643113"/>
            <a:ext cx="3275836" cy="23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619760" y="5193352"/>
            <a:ext cx="59131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Подходите к главному входу каждый день после полудня и до двух часов. Там вас будет ждать главный инженер. 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19760" y="5889787"/>
            <a:ext cx="5181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Нужны преподаватели в Академию наук и гимназию при ней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19760" y="6693734"/>
            <a:ext cx="5760720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Независимо от того, иностранец вы или русский гражданин, если вы сильны в какой-то науке, у вас есть какая-нибудь технология или изобретение, вам точно к нам.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Мы стремимся поднять уровень образования в стране. Умные мысли лишними не бывают, а умные люли или даже гении и подавно!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Приходите в любой день в здание Академии наук, там вас встретят, сначала расскажете про вас, чем занимаетесь и где сильны, а затем вас отведут к учёным и преподавателям из этой области. После этого вы сможете с ними обсудить все интересующие вас вопросы.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912890" y="11448860"/>
            <a:ext cx="3371174" cy="523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i="1" lang="ru-RU" sz="1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Итоговый выпуск от Васильего вечера (31 декабря) 1724 года</a:t>
            </a:r>
            <a:endParaRPr/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1840" y="9682895"/>
            <a:ext cx="3108960" cy="1627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